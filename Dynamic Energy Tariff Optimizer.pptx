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dal" charset="1" panose="02000503000000020004"/>
      <p:regular r:id="rId11"/>
    </p:embeddedFont>
    <p:embeddedFont>
      <p:font typeface="Glacial Indifference" charset="1" panose="00000000000000000000"/>
      <p:regular r:id="rId12"/>
    </p:embeddedFont>
    <p:embeddedFont>
      <p:font typeface="Glacial Indifference Bold" charset="1" panose="00000800000000000000"/>
      <p:regular r:id="rId13"/>
    </p:embeddedFont>
    <p:embeddedFont>
      <p:font typeface="Glacial Indifference Bold Italics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https://share.google/cvd3avTq7eeh40hae" TargetMode="External" Type="http://schemas.openxmlformats.org/officeDocument/2006/relationships/hyperlink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2110" y="4880173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4929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48490" y="-2973269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60980" y="3015920"/>
            <a:ext cx="11994542" cy="222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1"/>
              </a:lnSpc>
            </a:pPr>
            <a:r>
              <a:rPr lang="en-US" sz="8591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DYNAMIC ENERGY TARIFF OPTIMIZER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36144" y="-195501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862442" y="5861442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4425558" y="4425558"/>
                </a:moveTo>
                <a:lnTo>
                  <a:pt x="0" y="4425558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6765915"/>
            <a:ext cx="7315200" cy="1923288"/>
          </a:xfrm>
          <a:custGeom>
            <a:avLst/>
            <a:gdLst/>
            <a:ahLst/>
            <a:cxnLst/>
            <a:rect r="r" b="b" t="t" l="l"/>
            <a:pathLst>
              <a:path h="1923288" w="7315200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8211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48277" y="7171081"/>
            <a:ext cx="6708306" cy="55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321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7352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22259" y="8112813"/>
            <a:ext cx="7760343" cy="176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4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Vijesh (2023506087)</a:t>
            </a:r>
          </a:p>
          <a:p>
            <a:pPr algn="ctr">
              <a:lnSpc>
                <a:spcPts val="3499"/>
              </a:lnSpc>
            </a:pPr>
            <a:r>
              <a:rPr lang="en-US" sz="34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Kumaran (2023506091)</a:t>
            </a:r>
          </a:p>
          <a:p>
            <a:pPr algn="ctr">
              <a:lnSpc>
                <a:spcPts val="3499"/>
              </a:lnSpc>
            </a:pPr>
            <a:r>
              <a:rPr lang="en-US" sz="34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Gnanendhiran (2023506103)</a:t>
            </a:r>
          </a:p>
          <a:p>
            <a:pPr algn="ctr">
              <a:lnSpc>
                <a:spcPts val="3499"/>
              </a:lnSpc>
            </a:pPr>
            <a:r>
              <a:rPr lang="en-US" sz="34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Janardhanam (2023506108)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19259" y="5536331"/>
            <a:ext cx="2386734" cy="2386734"/>
          </a:xfrm>
          <a:custGeom>
            <a:avLst/>
            <a:gdLst/>
            <a:ahLst/>
            <a:cxnLst/>
            <a:rect r="r" b="b" t="t" l="l"/>
            <a:pathLst>
              <a:path h="2386734" w="2386734">
                <a:moveTo>
                  <a:pt x="0" y="0"/>
                </a:moveTo>
                <a:lnTo>
                  <a:pt x="2386733" y="0"/>
                </a:lnTo>
                <a:lnTo>
                  <a:pt x="2386733" y="2386734"/>
                </a:lnTo>
                <a:lnTo>
                  <a:pt x="0" y="2386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84393" y="6233632"/>
            <a:ext cx="8106736" cy="8106736"/>
          </a:xfrm>
          <a:custGeom>
            <a:avLst/>
            <a:gdLst/>
            <a:ahLst/>
            <a:cxnLst/>
            <a:rect r="r" b="b" t="t" l="l"/>
            <a:pathLst>
              <a:path h="8106736" w="8106736">
                <a:moveTo>
                  <a:pt x="0" y="0"/>
                </a:moveTo>
                <a:lnTo>
                  <a:pt x="8106737" y="0"/>
                </a:lnTo>
                <a:lnTo>
                  <a:pt x="8106737" y="8106736"/>
                </a:lnTo>
                <a:lnTo>
                  <a:pt x="0" y="810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80664" y="7543035"/>
            <a:ext cx="6067399" cy="4114800"/>
          </a:xfrm>
          <a:custGeom>
            <a:avLst/>
            <a:gdLst/>
            <a:ahLst/>
            <a:cxnLst/>
            <a:rect r="r" b="b" t="t" l="l"/>
            <a:pathLst>
              <a:path h="4114800" w="6067399">
                <a:moveTo>
                  <a:pt x="0" y="0"/>
                </a:moveTo>
                <a:lnTo>
                  <a:pt x="6067399" y="0"/>
                </a:lnTo>
                <a:lnTo>
                  <a:pt x="60673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56742" y="-1861879"/>
            <a:ext cx="5516254" cy="5516254"/>
          </a:xfrm>
          <a:custGeom>
            <a:avLst/>
            <a:gdLst/>
            <a:ahLst/>
            <a:cxnLst/>
            <a:rect r="r" b="b" t="t" l="l"/>
            <a:pathLst>
              <a:path h="5516254" w="5516254">
                <a:moveTo>
                  <a:pt x="0" y="0"/>
                </a:moveTo>
                <a:lnTo>
                  <a:pt x="5516254" y="0"/>
                </a:lnTo>
                <a:lnTo>
                  <a:pt x="5516254" y="5516254"/>
                </a:lnTo>
                <a:lnTo>
                  <a:pt x="0" y="5516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6452294" y="-1483810"/>
            <a:ext cx="6251768" cy="4114800"/>
          </a:xfrm>
          <a:custGeom>
            <a:avLst/>
            <a:gdLst/>
            <a:ahLst/>
            <a:cxnLst/>
            <a:rect r="r" b="b" t="t" l="l"/>
            <a:pathLst>
              <a:path h="4114800" w="6251768">
                <a:moveTo>
                  <a:pt x="0" y="4114800"/>
                </a:moveTo>
                <a:lnTo>
                  <a:pt x="6251768" y="4114800"/>
                </a:lnTo>
                <a:lnTo>
                  <a:pt x="62517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9259" y="244257"/>
            <a:ext cx="2386734" cy="2386734"/>
          </a:xfrm>
          <a:custGeom>
            <a:avLst/>
            <a:gdLst/>
            <a:ahLst/>
            <a:cxnLst/>
            <a:rect r="r" b="b" t="t" l="l"/>
            <a:pathLst>
              <a:path h="2386734" w="2386734">
                <a:moveTo>
                  <a:pt x="0" y="0"/>
                </a:moveTo>
                <a:lnTo>
                  <a:pt x="2386733" y="0"/>
                </a:lnTo>
                <a:lnTo>
                  <a:pt x="2386733" y="2386733"/>
                </a:lnTo>
                <a:lnTo>
                  <a:pt x="0" y="2386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307757" y="847725"/>
            <a:ext cx="9092509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Abstract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828" y="2825747"/>
            <a:ext cx="14909848" cy="227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425" indent="-347213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TNEB currently charges based on total units, ignoring the time of usage.</a:t>
            </a:r>
          </a:p>
          <a:p>
            <a:pPr algn="l" marL="694425" indent="-347213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This causes grid overload during peak hours and limits cost-saving opportunities.</a:t>
            </a:r>
          </a:p>
          <a:p>
            <a:pPr algn="l" marL="694425" indent="-347213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project introduces a Time-of-Use (TOU) tariff model for smarter billing.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819259" y="2892422"/>
            <a:ext cx="2386734" cy="2386734"/>
          </a:xfrm>
          <a:custGeom>
            <a:avLst/>
            <a:gdLst/>
            <a:ahLst/>
            <a:cxnLst/>
            <a:rect r="r" b="b" t="t" l="l"/>
            <a:pathLst>
              <a:path h="2386734" w="2386734">
                <a:moveTo>
                  <a:pt x="0" y="0"/>
                </a:moveTo>
                <a:lnTo>
                  <a:pt x="2386733" y="0"/>
                </a:lnTo>
                <a:lnTo>
                  <a:pt x="2386733" y="2386734"/>
                </a:lnTo>
                <a:lnTo>
                  <a:pt x="0" y="2386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292293" y="4962525"/>
            <a:ext cx="9092509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3343" y="6938644"/>
            <a:ext cx="14909848" cy="227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425" indent="-347213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tool that recommends optimal time slots to use appliances.</a:t>
            </a:r>
          </a:p>
          <a:p>
            <a:pPr algn="l" marL="694425" indent="-347213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It simulates TOU pricing to help users save on electricity bills.</a:t>
            </a:r>
          </a:p>
          <a:p>
            <a:pPr algn="l" marL="694425" indent="-347213" lvl="1">
              <a:lnSpc>
                <a:spcPts val="4502"/>
              </a:lnSpc>
              <a:buFont typeface="Arial"/>
              <a:buChar char="•"/>
            </a:pPr>
            <a:r>
              <a:rPr lang="en-US" b="true" sz="321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The system also promotes balanced grid usage and future smart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8867" y="-2561505"/>
            <a:ext cx="5513578" cy="5513578"/>
          </a:xfrm>
          <a:custGeom>
            <a:avLst/>
            <a:gdLst/>
            <a:ahLst/>
            <a:cxnLst/>
            <a:rect r="r" b="b" t="t" l="l"/>
            <a:pathLst>
              <a:path h="5513578" w="5513578">
                <a:moveTo>
                  <a:pt x="0" y="0"/>
                </a:moveTo>
                <a:lnTo>
                  <a:pt x="5513577" y="0"/>
                </a:lnTo>
                <a:lnTo>
                  <a:pt x="5513577" y="5513578"/>
                </a:lnTo>
                <a:lnTo>
                  <a:pt x="0" y="5513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2285590" y="6806983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3657600"/>
                </a:moveTo>
                <a:lnTo>
                  <a:pt x="7315200" y="3657600"/>
                </a:lnTo>
                <a:lnTo>
                  <a:pt x="7315200" y="0"/>
                </a:lnTo>
                <a:lnTo>
                  <a:pt x="0" y="0"/>
                </a:lnTo>
                <a:lnTo>
                  <a:pt x="0" y="36576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2774" y="9499918"/>
            <a:ext cx="3657600" cy="502920"/>
          </a:xfrm>
          <a:custGeom>
            <a:avLst/>
            <a:gdLst/>
            <a:ahLst/>
            <a:cxnLst/>
            <a:rect r="r" b="b" t="t" l="l"/>
            <a:pathLst>
              <a:path h="502920" w="3657600">
                <a:moveTo>
                  <a:pt x="0" y="0"/>
                </a:moveTo>
                <a:lnTo>
                  <a:pt x="3657600" y="0"/>
                </a:lnTo>
                <a:lnTo>
                  <a:pt x="36576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68255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4933" y="-345714"/>
            <a:ext cx="5083377" cy="1623107"/>
          </a:xfrm>
          <a:custGeom>
            <a:avLst/>
            <a:gdLst/>
            <a:ahLst/>
            <a:cxnLst/>
            <a:rect r="r" b="b" t="t" l="l"/>
            <a:pathLst>
              <a:path h="1623107" w="5083377">
                <a:moveTo>
                  <a:pt x="0" y="0"/>
                </a:moveTo>
                <a:lnTo>
                  <a:pt x="5083377" y="0"/>
                </a:lnTo>
                <a:lnTo>
                  <a:pt x="5083377" y="1623107"/>
                </a:lnTo>
                <a:lnTo>
                  <a:pt x="0" y="1623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19745" y="-280251"/>
            <a:ext cx="8248511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Tech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14258"/>
            <a:ext cx="15188176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Frontend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HTML/CSS - For creating UI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Flask Templates - To display results on the webpage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66690"/>
            <a:ext cx="15188176" cy="274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Backend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Python </a:t>
            </a: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Main language for logic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Flask - To connect frontend and backend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JSON - To store sample tariff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514883"/>
            <a:ext cx="15188176" cy="150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ML Logic</a:t>
            </a:r>
          </a:p>
          <a:p>
            <a:pPr algn="just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Basic rule-based algorithm - To suggest best time slot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60744" y="12966"/>
            <a:ext cx="4982245" cy="4464824"/>
          </a:xfrm>
          <a:custGeom>
            <a:avLst/>
            <a:gdLst/>
            <a:ahLst/>
            <a:cxnLst/>
            <a:rect r="r" b="b" t="t" l="l"/>
            <a:pathLst>
              <a:path h="4464824" w="4982245">
                <a:moveTo>
                  <a:pt x="0" y="0"/>
                </a:moveTo>
                <a:lnTo>
                  <a:pt x="4982245" y="0"/>
                </a:lnTo>
                <a:lnTo>
                  <a:pt x="4982245" y="4464823"/>
                </a:lnTo>
                <a:lnTo>
                  <a:pt x="0" y="4464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8553" y="3063461"/>
            <a:ext cx="14735146" cy="553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Time of Use Electricity Tariff – A Key Enabler for Renewable Energy Usage</a:t>
            </a:r>
          </a:p>
          <a:p>
            <a:pPr algn="just">
              <a:lnSpc>
                <a:spcPts val="3639"/>
              </a:lnSpc>
            </a:pPr>
            <a:r>
              <a:rPr lang="en-US" b="true" sz="2599" i="true">
                <a:solidFill>
                  <a:srgbClr val="343434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     </a:t>
            </a:r>
            <a:r>
              <a:rPr lang="en-US" b="true" sz="2599" i="true">
                <a:solidFill>
                  <a:srgbClr val="343434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Provider:</a:t>
            </a: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Infosys Consulting     </a:t>
            </a:r>
          </a:p>
          <a:p>
            <a:pPr algn="just">
              <a:lnSpc>
                <a:spcPts val="3639"/>
              </a:lnSpc>
            </a:pPr>
            <a:r>
              <a:rPr lang="en-US" b="true" sz="2599" i="true">
                <a:solidFill>
                  <a:srgbClr val="343434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     Source:</a:t>
            </a: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9" u="sng">
                <a:solidFill>
                  <a:srgbClr val="5170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4" tooltip="https://share.google/cvd3avTq7eeh40hae"/>
              </a:rPr>
              <a:t>Infosys Electricity Tariff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</a:t>
            </a:r>
            <a:r>
              <a:rPr lang="en-US" b="true" sz="2599" i="true">
                <a:solidFill>
                  <a:srgbClr val="343434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What it does: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Explains how Time-of-Use (TOU) tariffs can shift electricity usage from peak to off-peak hours.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Emphasizes TOU as a strategy to promote renewable energy adoption (e.g., solar usage during daytime).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Highlights the economic, behavioral, and infrastructure challenges of TOU implementation.</a:t>
            </a:r>
          </a:p>
          <a:p>
            <a:pPr algn="just">
              <a:lnSpc>
                <a:spcPts val="3639"/>
              </a:lnSpc>
            </a:pPr>
            <a:r>
              <a:rPr lang="en-US" b="true" sz="2599" i="true">
                <a:solidFill>
                  <a:srgbClr val="343434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     Relevance: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paper supports the core idea of your project: using TOU tariffs to optimize usage and reduce costs.</a:t>
            </a:r>
          </a:p>
          <a:p>
            <a:pPr algn="just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offers a real-world perspective on TOU adoption in India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2699747" y="4268823"/>
            <a:ext cx="6860854" cy="6087449"/>
          </a:xfrm>
          <a:custGeom>
            <a:avLst/>
            <a:gdLst/>
            <a:ahLst/>
            <a:cxnLst/>
            <a:rect r="r" b="b" t="t" l="l"/>
            <a:pathLst>
              <a:path h="6087449" w="6860854">
                <a:moveTo>
                  <a:pt x="0" y="0"/>
                </a:moveTo>
                <a:lnTo>
                  <a:pt x="6860854" y="0"/>
                </a:lnTo>
                <a:lnTo>
                  <a:pt x="6860854" y="6087449"/>
                </a:lnTo>
                <a:lnTo>
                  <a:pt x="0" y="608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36830" y="-245745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0" y="0"/>
                </a:moveTo>
                <a:lnTo>
                  <a:pt x="7315200" y="0"/>
                </a:lnTo>
                <a:lnTo>
                  <a:pt x="7315200" y="2834640"/>
                </a:lnTo>
                <a:lnTo>
                  <a:pt x="0" y="2834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4650" y="1096418"/>
            <a:ext cx="10298701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Reference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82110" y="5181110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64929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48490" y="-2973269"/>
            <a:ext cx="8154379" cy="8154379"/>
          </a:xfrm>
          <a:custGeom>
            <a:avLst/>
            <a:gdLst/>
            <a:ahLst/>
            <a:cxnLst/>
            <a:rect r="r" b="b" t="t" l="l"/>
            <a:pathLst>
              <a:path h="8154379" w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29559" y="3972187"/>
            <a:ext cx="11766040" cy="194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6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36144" y="-195501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4171741" y="6177516"/>
            <a:ext cx="4425558" cy="4425558"/>
          </a:xfrm>
          <a:custGeom>
            <a:avLst/>
            <a:gdLst/>
            <a:ahLst/>
            <a:cxnLst/>
            <a:rect r="r" b="b" t="t" l="l"/>
            <a:pathLst>
              <a:path h="4425558" w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5233" y="8131414"/>
            <a:ext cx="7315200" cy="1923288"/>
          </a:xfrm>
          <a:custGeom>
            <a:avLst/>
            <a:gdLst/>
            <a:ahLst/>
            <a:cxnLst/>
            <a:rect r="r" b="b" t="t" l="l"/>
            <a:pathLst>
              <a:path h="1923288" w="7315200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8211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73520" y="-728801"/>
            <a:ext cx="4809082" cy="1757501"/>
          </a:xfrm>
          <a:custGeom>
            <a:avLst/>
            <a:gdLst/>
            <a:ahLst/>
            <a:cxnLst/>
            <a:rect r="r" b="b" t="t" l="l"/>
            <a:pathLst>
              <a:path h="1757501" w="4809082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14123" y="5836327"/>
            <a:ext cx="4996911" cy="60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3"/>
              </a:lnSpc>
            </a:pPr>
            <a:r>
              <a:rPr lang="en-US" sz="350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DAGudgTUQGk</dc:identifier>
  <dcterms:modified xsi:type="dcterms:W3CDTF">2011-08-01T06:04:30Z</dcterms:modified>
  <cp:revision>1</cp:revision>
  <dc:title>Dynamic Energy Tariff Optimizer</dc:title>
</cp:coreProperties>
</file>